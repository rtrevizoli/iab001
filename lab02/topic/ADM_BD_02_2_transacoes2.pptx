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2"/>
  </p:notesMasterIdLst>
  <p:sldIdLst>
    <p:sldId id="283" r:id="rId5"/>
    <p:sldId id="284" r:id="rId6"/>
    <p:sldId id="285" r:id="rId7"/>
    <p:sldId id="286" r:id="rId8"/>
    <p:sldId id="287" r:id="rId9"/>
    <p:sldId id="288" r:id="rId10"/>
    <p:sldId id="289" r:id="rId11"/>
    <p:sldId id="290" r:id="rId12"/>
    <p:sldId id="291" r:id="rId13"/>
    <p:sldId id="292" r:id="rId14"/>
    <p:sldId id="293" r:id="rId15"/>
    <p:sldId id="294" r:id="rId16"/>
    <p:sldId id="295" r:id="rId17"/>
    <p:sldId id="299" r:id="rId18"/>
    <p:sldId id="296" r:id="rId19"/>
    <p:sldId id="297" r:id="rId20"/>
    <p:sldId id="298" r:id="rId21"/>
  </p:sldIdLst>
  <p:sldSz cx="9144000" cy="6858000" type="screen4x3"/>
  <p:notesSz cx="6858000" cy="9144000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8A681A-504E-DF20-456A-B3E23F2DF066}" v="4" dt="2021-08-24T23:07:34.466"/>
    <p1510:client id="{49D94E35-C557-57BF-2977-1BEE5AB7EC4C}" v="276" dt="2020-09-09T01:37:06.3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754" autoAdjust="0"/>
    <p:restoredTop sz="94632" autoAdjust="0"/>
  </p:normalViewPr>
  <p:slideViewPr>
    <p:cSldViewPr>
      <p:cViewPr varScale="1">
        <p:scale>
          <a:sx n="47" d="100"/>
          <a:sy n="47" d="100"/>
        </p:scale>
        <p:origin x="516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2" d="100"/>
          <a:sy n="62" d="100"/>
        </p:scale>
        <p:origin x="-1740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1CB8529D-E351-4518-9835-5DADBBA986B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FD8F905E-0E73-4FBD-B9A8-F23FDD905795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B1D4AD8C-AD31-4F6F-A354-11A56DAA92C1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348FF145-8695-4DB4-BBAB-225D35F55B35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noProof="0"/>
              <a:t>Clique para editar os estilos do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BE8B38CD-CBDA-4DA5-A615-3744F1CD208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36E039C3-3FFC-4E0E-A7A2-FC0F69B96C8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55DCF3E3-442F-461B-993F-200015904382}" type="slidenum">
              <a:rPr lang="pt-BR" altLang="pt-BR"/>
              <a:pPr/>
              <a:t>‹#›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>
            <a:extLst>
              <a:ext uri="{FF2B5EF4-FFF2-40B4-BE49-F238E27FC236}">
                <a16:creationId xmlns:a16="http://schemas.microsoft.com/office/drawing/2014/main" id="{41305017-B2FC-4061-A086-55EF3C4DBDA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4DFE6BC-5894-48F5-B6A9-4CC0BE2DBCAD}" type="slidenum">
              <a:rPr lang="pt-BR" altLang="pt-BR"/>
              <a:pPr>
                <a:spcBef>
                  <a:spcPct val="0"/>
                </a:spcBef>
              </a:pPr>
              <a:t>1</a:t>
            </a:fld>
            <a:endParaRPr lang="pt-BR" altLang="pt-BR"/>
          </a:p>
        </p:txBody>
      </p:sp>
      <p:sp>
        <p:nvSpPr>
          <p:cNvPr id="4099" name="Text Box 2">
            <a:extLst>
              <a:ext uri="{FF2B5EF4-FFF2-40B4-BE49-F238E27FC236}">
                <a16:creationId xmlns:a16="http://schemas.microsoft.com/office/drawing/2014/main" id="{FDEF0950-AED0-4111-959A-F366A05781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9675" y="693738"/>
            <a:ext cx="4435475" cy="34274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pt-BR" altLang="pt-BR" sz="1800"/>
          </a:p>
        </p:txBody>
      </p:sp>
      <p:sp>
        <p:nvSpPr>
          <p:cNvPr id="4100" name="Rectangle 3">
            <a:extLst>
              <a:ext uri="{FF2B5EF4-FFF2-40B4-BE49-F238E27FC236}">
                <a16:creationId xmlns:a16="http://schemas.microsoft.com/office/drawing/2014/main" id="{20453E75-51F1-45F3-A4F9-842A8EBAC52F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685800" y="4341813"/>
            <a:ext cx="5480050" cy="41163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056" tIns="41028" rIns="82056" bIns="41028" anchor="ctr"/>
          <a:lstStyle/>
          <a:p>
            <a:pPr eaLnBrk="1" hangingPunct="1"/>
            <a:endParaRPr lang="en-US" altLang="pt-B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3D545B49-2E31-45BB-987D-9335FAC4695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15BA6BC-3A30-4BE9-9436-942B80ECF27E}" type="slidenum">
              <a:rPr lang="pt-BR" altLang="pt-BR"/>
              <a:pPr>
                <a:spcBef>
                  <a:spcPct val="0"/>
                </a:spcBef>
              </a:pPr>
              <a:t>2</a:t>
            </a:fld>
            <a:endParaRPr lang="pt-BR" altLang="pt-BR"/>
          </a:p>
        </p:txBody>
      </p:sp>
      <p:sp>
        <p:nvSpPr>
          <p:cNvPr id="6147" name="Text Box 2">
            <a:extLst>
              <a:ext uri="{FF2B5EF4-FFF2-40B4-BE49-F238E27FC236}">
                <a16:creationId xmlns:a16="http://schemas.microsoft.com/office/drawing/2014/main" id="{B9AD4465-05BA-422F-A895-22CDEA3C4D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9675" y="693738"/>
            <a:ext cx="4435475" cy="34274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pt-BR" altLang="pt-BR" sz="1800"/>
          </a:p>
        </p:txBody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CFA33438-7A32-4994-A009-CCEEB8C33A7B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685800" y="4341813"/>
            <a:ext cx="5480050" cy="41163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altLang="pt-B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6ABA731-21E5-405C-919C-72FC9ABCC81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B289FED-2EF3-4183-B773-062AEBC6AC0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EEF8A33-540D-4E79-9595-06A353CAB2D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F656A75-8FDF-4382-B997-5F8FC825AC8B}" type="slidenum">
              <a:rPr lang="pt-BR" altLang="pt-BR"/>
              <a:pPr/>
              <a:t>‹#›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578161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2870CF5-9F62-4876-A3F4-C1D11FEC08C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717E49D-705F-42EE-ABC4-95EC80B6BDB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9F1C114-B5AD-4FDA-A582-79A99ED4755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2B42AA3-C94D-4BE7-A485-002EF2A17514}" type="slidenum">
              <a:rPr lang="pt-BR" altLang="pt-BR"/>
              <a:pPr/>
              <a:t>‹#›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026866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48C06C9-0985-4EE4-93F7-D0C03647215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7FE487D-71AE-417D-B2CD-E0270BE3E2E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4376A7B-5090-472E-A555-E80C7BE2F1B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442747B-1DA8-446E-8610-2EE58E13DF6A}" type="slidenum">
              <a:rPr lang="pt-BR" altLang="pt-BR"/>
              <a:pPr/>
              <a:t>‹#›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7137905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4D22F7-BE19-4124-94FD-6B44B1BA0DA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3F0869B-226D-4A32-A3B5-D473F87184A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066EE24-7D1B-41A1-98E6-63551F5063D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DFEA74A-A157-4C7F-84F4-CE7E124EB0BD}" type="slidenum">
              <a:rPr lang="pt-BR" altLang="pt-BR"/>
              <a:pPr/>
              <a:t>‹#›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4649483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509D0F98-9C97-4D6E-A317-2134CA70108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ED3898EE-EC04-48DB-873D-0EB84D7C951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29BA4FB1-CC8B-4029-B05A-B0D50CF9602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922A139-C484-46A8-A1A1-31351467EC37}" type="slidenum">
              <a:rPr lang="pt-BR" altLang="pt-BR"/>
              <a:pPr/>
              <a:t>‹#›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699633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28C9A68C-5E89-4D1A-BB92-241B8ECA4D6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D8818268-D208-466E-88C4-519675DDFE2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02D92F3-F318-4967-B2ED-0CE287EA54A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D358C5D-40D3-41B0-87C5-8C28CC261803}" type="slidenum">
              <a:rPr lang="pt-BR" altLang="pt-BR"/>
              <a:pPr/>
              <a:t>‹#›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0664944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5C08E6DE-A950-48F6-8FD9-946EE552666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820105F5-605F-4D4A-BDE8-C6055A14B2F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8D438220-BE8A-46A1-BE9F-1B569DBD07B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1BA3034-6736-4C10-9AA0-3C61A6415387}" type="slidenum">
              <a:rPr lang="pt-BR" altLang="pt-BR"/>
              <a:pPr/>
              <a:t>‹#›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0310131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6B90228-20C5-491C-90C9-EFC3D32D830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5AF0AD5-8D79-40DC-A9AC-0DDCE856316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299A57B-57D2-429A-838B-E56EC3A03CC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CD3B6D0-A017-4411-8913-C6D8BFBBEA10}" type="slidenum">
              <a:rPr lang="pt-BR" altLang="pt-BR"/>
              <a:pPr/>
              <a:t>‹#›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3562297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02DB549-7FF9-4B55-A22E-81ABC401FEC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BC63A57-ACBC-4C4C-B346-BA5DC895E02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748381E-14DE-4053-A2AE-8292FDF9684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C6F06C2-F28A-47F6-B299-D627746307B3}" type="slidenum">
              <a:rPr lang="pt-BR" altLang="pt-BR"/>
              <a:pPr/>
              <a:t>‹#›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739351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85AAA64-9799-4046-A7AB-0E50F54BC93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F57E25C-00B3-44CB-BA37-6A24A5436EB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F147351-67C4-444D-A5DD-7BEFF0E20FF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7E6AB22-6399-4BAA-B678-5CF9EF90D8D1}" type="slidenum">
              <a:rPr lang="pt-BR" altLang="pt-BR"/>
              <a:pPr/>
              <a:t>‹#›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5178025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B1A07F4-49FD-477C-8DA9-AD7A698974B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180D680-91D4-4B77-B11C-B98EA1D4649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B4B7A09-F1D3-4442-915F-8AB3DFC4B69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80E7458-B303-4EA1-A1C7-F944403E1967}" type="slidenum">
              <a:rPr lang="pt-BR" altLang="pt-BR"/>
              <a:pPr/>
              <a:t>‹#›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7247146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C311ADAD-F4CC-4677-BCC9-F5FA749D065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EFCFC52C-1E52-49C0-8A0F-DA67B4BF4B2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AE6FC8C3-8E4F-464A-95E4-654DC54E9AA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FA70BA1-A1D6-4444-9D42-700CC58280D6}" type="slidenum">
              <a:rPr lang="pt-BR" altLang="pt-BR"/>
              <a:pPr/>
              <a:t>‹#›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8855048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ítulo, text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E19964-FCE8-4598-8B9C-403E06BE3F3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765EC79-4FD7-47C4-BA5E-9C849FF06B2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501477-FC83-442D-9629-23C97573DB2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187CAFF-B9CD-4BAD-A669-22EC7160DD90}" type="slidenum">
              <a:rPr lang="pt-BR" altLang="pt-BR"/>
              <a:pPr/>
              <a:t>‹#›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8919094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BC02E569-DB66-4D39-B079-E04AB08D17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9B2D082C-1D44-4BE6-B3BE-1E88E1BEDB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do texto mestre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5BCEA4D-03C9-4EA2-BBDD-FFEB1190E0F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742A33F7-90B2-4125-9290-D78945E8222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2AFBB592-D406-4E77-A94B-F0058BF55EF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842C00D5-241F-47F8-84EC-F226FD583847}" type="slidenum">
              <a:rPr lang="pt-BR" altLang="pt-BR"/>
              <a:pPr/>
              <a:t>‹#›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E8A459CE-E598-4346-AF6D-929F3B1DF8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411413"/>
            <a:ext cx="8226425" cy="2211387"/>
          </a:xfrm>
        </p:spPr>
        <p:txBody>
          <a:bodyPr lIns="0" tIns="0" rIns="0" bIns="0">
            <a:spAutoFit/>
          </a:bodyPr>
          <a:lstStyle/>
          <a:p>
            <a:pPr defTabSz="407988" eaLnBrk="1">
              <a:lnSpc>
                <a:spcPct val="93000"/>
              </a:lnSpc>
              <a:buClr>
                <a:srgbClr val="FFFFFF"/>
              </a:buClr>
              <a:buSzPct val="45000"/>
              <a:buFont typeface="StarSymbol" charset="0"/>
              <a:buNone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  <a:tab pos="5910263" algn="l"/>
                <a:tab pos="6565900" algn="l"/>
                <a:tab pos="7223125" algn="l"/>
                <a:tab pos="7880350" algn="l"/>
              </a:tabLst>
            </a:pPr>
            <a:r>
              <a:rPr lang="pt-BR" altLang="pt-BR" sz="4000" u="sng" dirty="0" err="1">
                <a:solidFill>
                  <a:schemeClr val="tx1"/>
                </a:solidFill>
              </a:rPr>
              <a:t>Adminstração</a:t>
            </a:r>
            <a:r>
              <a:rPr lang="pt-BR" altLang="pt-BR" sz="4000" u="sng" dirty="0">
                <a:solidFill>
                  <a:schemeClr val="tx1"/>
                </a:solidFill>
              </a:rPr>
              <a:t> de SGBD</a:t>
            </a:r>
            <a:r>
              <a:rPr lang="pt-BR" altLang="pt-BR" sz="4000" dirty="0">
                <a:solidFill>
                  <a:schemeClr val="tx1"/>
                </a:solidFill>
              </a:rPr>
              <a:t> </a:t>
            </a:r>
            <a:br>
              <a:rPr lang="pt-BR" altLang="pt-BR" sz="4000" dirty="0"/>
            </a:br>
            <a:br>
              <a:rPr lang="pt-BR" altLang="pt-BR" sz="4000" dirty="0"/>
            </a:br>
            <a:r>
              <a:rPr lang="pt-BR" altLang="pt-BR" sz="4000" dirty="0">
                <a:solidFill>
                  <a:schemeClr val="tx1"/>
                </a:solidFill>
              </a:rPr>
              <a:t>Aula </a:t>
            </a:r>
            <a:r>
              <a:rPr lang="pt-BR" altLang="pt-BR" sz="4000" dirty="0">
                <a:solidFill>
                  <a:schemeClr val="tx1"/>
                </a:solidFill>
                <a:latin typeface="Times New Roman"/>
                <a:cs typeface="Times New Roman"/>
              </a:rPr>
              <a:t>II</a:t>
            </a:r>
            <a:br>
              <a:rPr lang="pt-BR" altLang="pt-BR" sz="4000" dirty="0"/>
            </a:br>
            <a:r>
              <a:rPr lang="pt-BR" altLang="pt-BR" sz="1800" dirty="0">
                <a:solidFill>
                  <a:schemeClr val="tx1"/>
                </a:solidFill>
              </a:rPr>
              <a:t> </a:t>
            </a:r>
            <a:br>
              <a:rPr lang="pt-BR" altLang="pt-BR" sz="1800" dirty="0"/>
            </a:br>
            <a:endParaRPr lang="en-GB" altLang="pt-BR" sz="1800">
              <a:solidFill>
                <a:schemeClr val="tx1"/>
              </a:solidFill>
            </a:endParaRP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6EC9496D-4528-41C5-8626-D79D7B82B0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4138" y="5545138"/>
            <a:ext cx="2249487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 defTabSz="449263">
              <a:spcBef>
                <a:spcPct val="20000"/>
              </a:spcBef>
              <a:buChar char="•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49263">
              <a:spcBef>
                <a:spcPct val="20000"/>
              </a:spcBef>
              <a:buChar char="–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49263">
              <a:spcBef>
                <a:spcPct val="20000"/>
              </a:spcBef>
              <a:buChar char="•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49263">
              <a:spcBef>
                <a:spcPct val="20000"/>
              </a:spcBef>
              <a:buChar char="–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49263">
              <a:spcBef>
                <a:spcPct val="20000"/>
              </a:spcBef>
              <a:buChar char="»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GB" altLang="pt-BR" sz="2000"/>
              <a:t>Prof. Carlos Garcia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9312B98F-45FE-4D95-A7E2-80EB784CBB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511175"/>
            <a:ext cx="8226425" cy="669925"/>
          </a:xfrm>
          <a:noFill/>
        </p:spPr>
        <p:txBody>
          <a:bodyPr lIns="0" tIns="0" rIns="0" bIns="0">
            <a:spAutoFit/>
          </a:bodyPr>
          <a:lstStyle/>
          <a:p>
            <a:pPr defTabSz="449263" eaLnBrk="1" hangingPunct="1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GB" altLang="pt-BR"/>
              <a:t>Conteúdo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60C5276C-13F0-4004-9E17-C81D90CB69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4963"/>
            <a:ext cx="8226425" cy="3911600"/>
          </a:xfrm>
          <a:noFill/>
        </p:spPr>
        <p:txBody>
          <a:bodyPr/>
          <a:lstStyle/>
          <a:p>
            <a:pPr eaLnBrk="1" hangingPunct="1"/>
            <a:r>
              <a:rPr lang="pt-BR" altLang="pt-BR"/>
              <a:t>Conceitos de transação</a:t>
            </a:r>
          </a:p>
          <a:p>
            <a:pPr lvl="1" eaLnBrk="1" hangingPunct="1"/>
            <a:r>
              <a:rPr lang="pt-BR" altLang="pt-BR"/>
              <a:t>Definição</a:t>
            </a:r>
          </a:p>
          <a:p>
            <a:pPr lvl="1" eaLnBrk="1" hangingPunct="1"/>
            <a:r>
              <a:rPr lang="pt-BR" altLang="pt-BR"/>
              <a:t>Características</a:t>
            </a:r>
          </a:p>
          <a:p>
            <a:pPr eaLnBrk="1" hangingPunct="1"/>
            <a:r>
              <a:rPr lang="pt-BR" altLang="pt-BR"/>
              <a:t>Conceitos de Concorrência e Bloqueios</a:t>
            </a:r>
          </a:p>
          <a:p>
            <a:pPr lvl="1" eaLnBrk="1" hangingPunct="1"/>
            <a:r>
              <a:rPr lang="pt-BR" altLang="pt-BR"/>
              <a:t>Definição</a:t>
            </a:r>
          </a:p>
          <a:p>
            <a:pPr lvl="1" eaLnBrk="1" hangingPunct="1"/>
            <a:r>
              <a:rPr lang="pt-BR" altLang="pt-BR"/>
              <a:t>Características</a:t>
            </a:r>
          </a:p>
          <a:p>
            <a:pPr lvl="1" eaLnBrk="1" hangingPunct="1"/>
            <a:endParaRPr lang="pt-BR" altLang="pt-BR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7F767FBA-CB38-43F4-95FD-B0E4AA09FA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/>
              <a:t>Processamento de Transações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57D49E13-307E-48B3-BCAB-7445235207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pt-BR" altLang="pt-BR" sz="2800"/>
              <a:t>Gerenciar dados é uma tarefa crítica em todas as organizações.</a:t>
            </a:r>
          </a:p>
          <a:p>
            <a:pPr eaLnBrk="1" hangingPunct="1">
              <a:lnSpc>
                <a:spcPct val="90000"/>
              </a:lnSpc>
            </a:pPr>
            <a:r>
              <a:rPr lang="pt-BR" altLang="pt-BR" sz="2800"/>
              <a:t>SGBD oferece o melhor ambiente para armazenar e recuperar os dados em um modo econômico.</a:t>
            </a:r>
          </a:p>
          <a:p>
            <a:pPr eaLnBrk="1" hangingPunct="1">
              <a:lnSpc>
                <a:spcPct val="90000"/>
              </a:lnSpc>
            </a:pPr>
            <a:r>
              <a:rPr lang="pt-BR" altLang="pt-BR" sz="2800"/>
              <a:t>Os usuários do SGBD realizam operações de acesso aos dados durante a execução dos processos diários.</a:t>
            </a:r>
          </a:p>
          <a:p>
            <a:pPr eaLnBrk="1" hangingPunct="1">
              <a:lnSpc>
                <a:spcPct val="90000"/>
              </a:lnSpc>
            </a:pPr>
            <a:r>
              <a:rPr lang="pt-BR" altLang="pt-BR" sz="2800"/>
              <a:t>A essas operações de escrita ou leitura chamamos de transações.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33A57C60-D438-44F7-8E10-7D6EE984F4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/>
              <a:t>Elementos chave no gerenciamento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DC50F724-AF3A-46F6-8AC7-A81429D58C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pt-BR" altLang="pt-BR" sz="2400"/>
              <a:t>Objeto: o menor dado que é lido ou atualizado pela transação.</a:t>
            </a:r>
          </a:p>
          <a:p>
            <a:pPr eaLnBrk="1" hangingPunct="1">
              <a:lnSpc>
                <a:spcPct val="90000"/>
              </a:lnSpc>
            </a:pPr>
            <a:r>
              <a:rPr lang="pt-BR" altLang="pt-BR" sz="2400"/>
              <a:t>Transação (T): é definida como sendo a execução do SQL pelo SGBD.</a:t>
            </a:r>
          </a:p>
          <a:p>
            <a:pPr eaLnBrk="1" hangingPunct="1">
              <a:lnSpc>
                <a:spcPct val="90000"/>
              </a:lnSpc>
            </a:pPr>
            <a:r>
              <a:rPr lang="pt-BR" altLang="pt-BR" sz="2400"/>
              <a:t>Operação de Leitura (R): é a recuperação dos dados dentro da transação.</a:t>
            </a:r>
          </a:p>
          <a:p>
            <a:pPr eaLnBrk="1" hangingPunct="1">
              <a:lnSpc>
                <a:spcPct val="90000"/>
              </a:lnSpc>
            </a:pPr>
            <a:r>
              <a:rPr lang="pt-BR" altLang="pt-BR" sz="2400"/>
              <a:t>Operação de escrita (W): é a atualização dos dados dentro da transação.</a:t>
            </a:r>
          </a:p>
          <a:p>
            <a:pPr eaLnBrk="1" hangingPunct="1">
              <a:lnSpc>
                <a:spcPct val="90000"/>
              </a:lnSpc>
            </a:pPr>
            <a:r>
              <a:rPr lang="pt-BR" altLang="pt-BR" sz="2400"/>
              <a:t>COMMIT: termo utilizado para encerrar a transação com sucesso.</a:t>
            </a:r>
          </a:p>
          <a:p>
            <a:pPr eaLnBrk="1" hangingPunct="1">
              <a:lnSpc>
                <a:spcPct val="90000"/>
              </a:lnSpc>
            </a:pPr>
            <a:r>
              <a:rPr lang="pt-BR" altLang="pt-BR" sz="2400"/>
              <a:t>ABORT: termo utilizado para encerrar a transação sem sucesso.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D669094F-426F-4935-ABF8-86A88766C1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/>
              <a:t>Gerenciamento de Transação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27D0B025-6918-4686-92D7-6A7315FA21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pt-BR" altLang="pt-BR"/>
              <a:t>Inúmeros algoritmos são utilizados para gerenciar o acesso dos diferentes usuários a um dado SGBD.</a:t>
            </a:r>
          </a:p>
          <a:p>
            <a:pPr eaLnBrk="1" hangingPunct="1">
              <a:lnSpc>
                <a:spcPct val="90000"/>
              </a:lnSpc>
            </a:pPr>
            <a:r>
              <a:rPr lang="pt-BR" altLang="pt-BR"/>
              <a:t>Para garantir que o SGBD irá atender aos acessos, deve-se permitir certas execuções concorrentes.</a:t>
            </a:r>
          </a:p>
          <a:p>
            <a:pPr eaLnBrk="1" hangingPunct="1">
              <a:lnSpc>
                <a:spcPct val="90000"/>
              </a:lnSpc>
            </a:pPr>
            <a:r>
              <a:rPr lang="pt-BR" altLang="pt-BR"/>
              <a:t>O Gerenciador de Transações é o responsável por programar as transações e prover meios seguros de completá-las.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DA33D648-5B98-4BDF-873E-3B4D98560F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/>
              <a:t>ACID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C5F63712-F2A7-4A1B-A3AE-31A28D679F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pt-BR" altLang="pt-BR" sz="2800"/>
              <a:t>Para manter os dados durante a fase de acesso concorrente e em caso de falhas do sistema, o SGBD necessita garantir quatro importantes propriedades.</a:t>
            </a:r>
          </a:p>
          <a:p>
            <a:pPr eaLnBrk="1" hangingPunct="1">
              <a:lnSpc>
                <a:spcPct val="90000"/>
              </a:lnSpc>
            </a:pPr>
            <a:r>
              <a:rPr lang="pt-BR" altLang="pt-BR" sz="2800"/>
              <a:t>Essas propriedades são chamadas de ACID. Cujo significado é: Atomicidade, Consistência, Isolamento e Durabilidade.</a:t>
            </a:r>
          </a:p>
          <a:p>
            <a:pPr eaLnBrk="1" hangingPunct="1">
              <a:lnSpc>
                <a:spcPct val="90000"/>
              </a:lnSpc>
            </a:pPr>
            <a:endParaRPr lang="pt-BR" altLang="pt-BR" sz="2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CA6460D3-1D72-4DA4-9ADC-D8644038B5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/>
              <a:t>Atomicidade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68475DB7-A286-4E54-882B-27EDBE5CC0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pt-BR" altLang="pt-BR"/>
              <a:t>Ou todos os comandos da transação são executados ou nenhum é. Isto significa que a transação não pode ser subdividida, e mais ela deve ser processada em sua totalidade ou não ser processada.</a:t>
            </a:r>
          </a:p>
          <a:p>
            <a:pPr eaLnBrk="1" hangingPunct="1">
              <a:lnSpc>
                <a:spcPct val="90000"/>
              </a:lnSpc>
            </a:pPr>
            <a:r>
              <a:rPr lang="pt-BR" altLang="pt-BR"/>
              <a:t>Em caso de falha de sistemas os usuários do SGBD  não devem se preocupar com o resultado e ter a certeza de que o banco não ficará num estado inconsistente.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DEC2B7F6-A9E8-4004-BD89-0278344286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/>
              <a:t>Durabilidade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8DF7E3A4-09B3-4B8F-86D4-8F53E378B1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pt-BR" altLang="pt-BR" sz="2800"/>
              <a:t>Visa a persistência do resultado das transações no banco de dados.</a:t>
            </a:r>
          </a:p>
          <a:p>
            <a:pPr eaLnBrk="1" hangingPunct="1"/>
            <a:r>
              <a:rPr lang="pt-BR" altLang="pt-BR" sz="2800"/>
              <a:t>Se os resultados forem persistidos para o banco, esses dados não serão alterados a não ser por uma nova transação.</a:t>
            </a:r>
          </a:p>
          <a:p>
            <a:pPr eaLnBrk="1" hangingPunct="1"/>
            <a:r>
              <a:rPr lang="pt-BR" altLang="pt-BR" sz="2800"/>
              <a:t>Para que seja possível desfazer transações incompletas em caso de falha é que existem os arquivos de log, os quais são escritos antes da efetivação dos dados.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13394107-83E8-48AF-8523-9F735D7086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/>
              <a:t>Consistência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54B9755B-D08A-4C43-A816-084D253A24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pt-BR" altLang="pt-BR"/>
              <a:t>Define que o sistema permanecerá em um estado consistente antes e depois de concluir a transação. Independente se foi concluída com sucesso ou não.</a:t>
            </a:r>
          </a:p>
          <a:p>
            <a:pPr eaLnBrk="1" hangingPunct="1">
              <a:lnSpc>
                <a:spcPct val="90000"/>
              </a:lnSpc>
            </a:pPr>
            <a:r>
              <a:rPr lang="pt-BR" altLang="pt-BR"/>
              <a:t>Esta propriedade define que apenas dados consistentes serão escritos para o banco e que em caso de inconsistência de algum comando, todos os demais serão desfeitos.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957DD8F0-5800-43A8-BA02-ADE9E50C8F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/>
              <a:t>Isolamento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F4AAB0DF-21ED-4D29-829A-600E7806BA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pt-BR" altLang="pt-BR"/>
              <a:t>Refere-se ao requisito de que os dados parciais de uma transação não devem ser visualizados ou manipulados por outra transação concorrente até que a transação principal seja finalizada.</a:t>
            </a:r>
          </a:p>
          <a:p>
            <a:pPr eaLnBrk="1" hangingPunct="1">
              <a:buFontTx/>
              <a:buNone/>
            </a:pPr>
            <a:endParaRPr lang="pt-BR" altLang="pt-B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CB74272A-6C11-4A65-AA79-B210103B59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/>
              <a:t>Concorrência baseada em bloqueios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821B6DD2-EA29-43C9-9D9C-7F2F3A3EB8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pt-BR" altLang="pt-BR" sz="2800"/>
              <a:t>Controle de concorrência é o que garante que as transações no SGBD são executadas e finalizadas de modo seguro e consistente.</a:t>
            </a:r>
          </a:p>
          <a:p>
            <a:pPr eaLnBrk="1" hangingPunct="1"/>
            <a:r>
              <a:rPr lang="pt-BR" altLang="pt-BR" sz="2800"/>
              <a:t>Para implementar este controle foram criados os mecanismos de bloqueio (locks) dos recursos utilizados em cada transação.</a:t>
            </a:r>
          </a:p>
          <a:p>
            <a:pPr eaLnBrk="1" hangingPunct="1"/>
            <a:r>
              <a:rPr lang="pt-BR" altLang="pt-BR" sz="2800"/>
              <a:t>Este é o melhor método por tomar o menor custo de tempo e a menor complexidade de programação do gerenciador.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DEC1B9A9-0A52-48AF-A566-5F7B01E266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/>
              <a:t>Bloqueio (Lock)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FA07AC95-9BD1-4F67-97E9-BABF88B72D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pt-BR" altLang="pt-BR" sz="2400"/>
              <a:t>É uma propriedade dos objetos de banco definida durante as transações.</a:t>
            </a:r>
          </a:p>
          <a:p>
            <a:pPr eaLnBrk="1" hangingPunct="1">
              <a:lnSpc>
                <a:spcPct val="90000"/>
              </a:lnSpc>
            </a:pPr>
            <a:r>
              <a:rPr lang="pt-BR" altLang="pt-BR" sz="2400"/>
              <a:t>É um tipo de permissão concedida pelo gerenciador de transação às transações para realizar operações sobre os objetos de interesse.</a:t>
            </a:r>
          </a:p>
          <a:p>
            <a:pPr eaLnBrk="1" hangingPunct="1">
              <a:lnSpc>
                <a:spcPct val="90000"/>
              </a:lnSpc>
            </a:pPr>
            <a:r>
              <a:rPr lang="pt-BR" altLang="pt-BR" sz="2400"/>
              <a:t>Cada transação interessada num dado objeto deve obter esta autorização do gerenciador para manipular o objeto.</a:t>
            </a:r>
          </a:p>
          <a:p>
            <a:pPr eaLnBrk="1" hangingPunct="1">
              <a:lnSpc>
                <a:spcPct val="90000"/>
              </a:lnSpc>
            </a:pPr>
            <a:r>
              <a:rPr lang="pt-BR" altLang="pt-BR" sz="2400"/>
              <a:t>Basicamente, todo dado solicitado para ser atualizado deve bloqueado para aquela transação e ter o acesso negado para as demais.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6DC555AE-8D7B-471B-B1F6-EEE295EDAE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/>
              <a:t>Transações serializadas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C3ED41BB-7128-48E2-AEB1-AC67D5380E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pt-BR" altLang="pt-BR"/>
              <a:t>As transações são concorrentes e acontecem em paralelo dentro do SGBD.</a:t>
            </a:r>
          </a:p>
          <a:p>
            <a:pPr eaLnBrk="1" hangingPunct="1"/>
            <a:r>
              <a:rPr lang="pt-BR" altLang="pt-BR"/>
              <a:t>Quando duas transações concorrem por um dado objeto, é utilizado o mecanismo de bloqueio (lock) para serializar tais transações e garantir a consistência dos dados.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93075-86C9-4D20-847F-B2AD50BC6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Arial"/>
              </a:rPr>
              <a:t>Locks </a:t>
            </a:r>
            <a:r>
              <a:rPr lang="en-US" dirty="0" err="1">
                <a:cs typeface="Arial"/>
              </a:rPr>
              <a:t>Explícitos</a:t>
            </a:r>
            <a:r>
              <a:rPr lang="en-US" dirty="0">
                <a:cs typeface="Arial"/>
              </a:rPr>
              <a:t> </a:t>
            </a:r>
            <a:r>
              <a:rPr lang="en-US" dirty="0" err="1">
                <a:cs typeface="Arial"/>
              </a:rPr>
              <a:t>ou</a:t>
            </a:r>
            <a:r>
              <a:rPr lang="en-US" dirty="0">
                <a:cs typeface="Arial"/>
              </a:rPr>
              <a:t> </a:t>
            </a:r>
            <a:r>
              <a:rPr lang="en-US" dirty="0" err="1">
                <a:cs typeface="Arial"/>
              </a:rPr>
              <a:t>não</a:t>
            </a:r>
            <a:endParaRPr lang="en-US" dirty="0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2D5CD3-EADE-4C2C-B64D-DB205F58C7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>
                <a:cs typeface="Arial"/>
              </a:rPr>
              <a:t>Lock </a:t>
            </a:r>
            <a:r>
              <a:rPr lang="en-US" sz="2800" dirty="0" err="1">
                <a:cs typeface="Arial"/>
              </a:rPr>
              <a:t>Explícito</a:t>
            </a:r>
            <a:r>
              <a:rPr lang="en-US" sz="2800" dirty="0">
                <a:cs typeface="Arial"/>
              </a:rPr>
              <a:t>: é </a:t>
            </a:r>
            <a:r>
              <a:rPr lang="en-US" sz="2800" dirty="0" err="1">
                <a:cs typeface="Arial"/>
              </a:rPr>
              <a:t>aquele</a:t>
            </a:r>
            <a:r>
              <a:rPr lang="en-US" sz="2800" dirty="0">
                <a:cs typeface="Arial"/>
              </a:rPr>
              <a:t> </a:t>
            </a:r>
            <a:r>
              <a:rPr lang="en-US" sz="2800" dirty="0" err="1">
                <a:cs typeface="Arial"/>
              </a:rPr>
              <a:t>implementado</a:t>
            </a:r>
            <a:r>
              <a:rPr lang="en-US" sz="2800" dirty="0">
                <a:cs typeface="Arial"/>
              </a:rPr>
              <a:t> a </a:t>
            </a:r>
            <a:r>
              <a:rPr lang="en-US" sz="2800" dirty="0" err="1">
                <a:cs typeface="Arial"/>
              </a:rPr>
              <a:t>pedido</a:t>
            </a:r>
            <a:r>
              <a:rPr lang="en-US" sz="2800" dirty="0">
                <a:cs typeface="Arial"/>
              </a:rPr>
              <a:t> do </a:t>
            </a:r>
            <a:r>
              <a:rPr lang="en-US" sz="2800" dirty="0" err="1">
                <a:cs typeface="Arial"/>
              </a:rPr>
              <a:t>programador</a:t>
            </a:r>
            <a:r>
              <a:rPr lang="en-US" sz="2800" dirty="0">
                <a:cs typeface="Arial"/>
              </a:rPr>
              <a:t> no </a:t>
            </a:r>
            <a:r>
              <a:rPr lang="en-US" sz="2800" dirty="0" err="1">
                <a:cs typeface="Arial"/>
              </a:rPr>
              <a:t>aplicativo</a:t>
            </a:r>
            <a:r>
              <a:rPr lang="en-US" sz="2800" dirty="0">
                <a:cs typeface="Arial"/>
              </a:rPr>
              <a:t> </a:t>
            </a:r>
            <a:r>
              <a:rPr lang="en-US" sz="2800" dirty="0" err="1">
                <a:cs typeface="Arial"/>
              </a:rPr>
              <a:t>em</a:t>
            </a:r>
            <a:r>
              <a:rPr lang="en-US" sz="2800" dirty="0">
                <a:cs typeface="Arial"/>
              </a:rPr>
              <a:t> </a:t>
            </a:r>
            <a:r>
              <a:rPr lang="en-US" sz="2800" dirty="0" err="1">
                <a:cs typeface="Arial"/>
              </a:rPr>
              <a:t>uso</a:t>
            </a:r>
            <a:r>
              <a:rPr lang="en-US" sz="2800" dirty="0">
                <a:cs typeface="Arial"/>
              </a:rPr>
              <a:t>. Esse lock </a:t>
            </a:r>
            <a:r>
              <a:rPr lang="en-US" sz="2800" dirty="0" err="1">
                <a:cs typeface="Arial"/>
              </a:rPr>
              <a:t>permanece</a:t>
            </a:r>
            <a:r>
              <a:rPr lang="en-US" sz="2800" dirty="0">
                <a:cs typeface="Arial"/>
              </a:rPr>
              <a:t> sob a </a:t>
            </a:r>
            <a:r>
              <a:rPr lang="en-US" sz="2800" dirty="0" err="1">
                <a:cs typeface="Arial"/>
              </a:rPr>
              <a:t>gestão</a:t>
            </a:r>
            <a:r>
              <a:rPr lang="en-US" sz="2800" dirty="0">
                <a:cs typeface="Arial"/>
              </a:rPr>
              <a:t> do </a:t>
            </a:r>
            <a:r>
              <a:rPr lang="en-US" sz="2800" dirty="0" err="1">
                <a:cs typeface="Arial"/>
              </a:rPr>
              <a:t>aplicativo</a:t>
            </a:r>
            <a:r>
              <a:rPr lang="en-US" sz="2800" dirty="0">
                <a:cs typeface="Arial"/>
              </a:rPr>
              <a:t> e </a:t>
            </a:r>
            <a:r>
              <a:rPr lang="en-US" sz="2800" dirty="0" err="1">
                <a:cs typeface="Arial"/>
              </a:rPr>
              <a:t>cabe</a:t>
            </a:r>
            <a:r>
              <a:rPr lang="en-US" sz="2800" dirty="0">
                <a:cs typeface="Arial"/>
              </a:rPr>
              <a:t> a </a:t>
            </a:r>
            <a:r>
              <a:rPr lang="en-US" sz="2800" dirty="0" err="1">
                <a:cs typeface="Arial"/>
              </a:rPr>
              <a:t>ele</a:t>
            </a:r>
            <a:r>
              <a:rPr lang="en-US" sz="2800" dirty="0">
                <a:cs typeface="Arial"/>
              </a:rPr>
              <a:t> </a:t>
            </a:r>
            <a:r>
              <a:rPr lang="en-US" sz="2800" dirty="0" err="1">
                <a:cs typeface="Arial"/>
              </a:rPr>
              <a:t>liberá</a:t>
            </a:r>
            <a:r>
              <a:rPr lang="en-US" sz="2800" dirty="0">
                <a:cs typeface="Arial"/>
              </a:rPr>
              <a:t>-lo. É </a:t>
            </a:r>
            <a:r>
              <a:rPr lang="en-US" sz="2800" dirty="0" err="1">
                <a:cs typeface="Arial"/>
              </a:rPr>
              <a:t>muito</a:t>
            </a:r>
            <a:r>
              <a:rPr lang="en-US" sz="2800" dirty="0">
                <a:cs typeface="Arial"/>
              </a:rPr>
              <a:t> </a:t>
            </a:r>
            <a:r>
              <a:rPr lang="en-US" sz="2800" dirty="0" err="1">
                <a:cs typeface="Arial"/>
              </a:rPr>
              <a:t>susceptível</a:t>
            </a:r>
            <a:r>
              <a:rPr lang="en-US" sz="2800" dirty="0">
                <a:cs typeface="Arial"/>
              </a:rPr>
              <a:t> a deadlock e </a:t>
            </a:r>
            <a:r>
              <a:rPr lang="en-US" sz="2800" dirty="0" err="1">
                <a:cs typeface="Arial"/>
              </a:rPr>
              <a:t>perda</a:t>
            </a:r>
            <a:r>
              <a:rPr lang="en-US" sz="2800" dirty="0">
                <a:cs typeface="Arial"/>
              </a:rPr>
              <a:t> de performance;</a:t>
            </a:r>
            <a:endParaRPr lang="en-US" sz="2800" dirty="0"/>
          </a:p>
          <a:p>
            <a:r>
              <a:rPr lang="en-US" sz="2800" dirty="0">
                <a:cs typeface="Arial"/>
              </a:rPr>
              <a:t>Lock </a:t>
            </a:r>
            <a:r>
              <a:rPr lang="en-US" sz="2800" dirty="0" err="1">
                <a:cs typeface="Arial"/>
              </a:rPr>
              <a:t>Implícito</a:t>
            </a:r>
            <a:r>
              <a:rPr lang="en-US" sz="2800" dirty="0">
                <a:cs typeface="Arial"/>
              </a:rPr>
              <a:t>: É o lock </a:t>
            </a:r>
            <a:r>
              <a:rPr lang="en-US" sz="2800" dirty="0" err="1">
                <a:cs typeface="Arial"/>
              </a:rPr>
              <a:t>gerenciado</a:t>
            </a:r>
            <a:r>
              <a:rPr lang="en-US" sz="2800" dirty="0">
                <a:cs typeface="Arial"/>
              </a:rPr>
              <a:t> </a:t>
            </a:r>
            <a:r>
              <a:rPr lang="en-US" sz="2800" dirty="0" err="1">
                <a:cs typeface="Arial"/>
              </a:rPr>
              <a:t>pelo</a:t>
            </a:r>
            <a:r>
              <a:rPr lang="en-US" sz="2800" dirty="0">
                <a:cs typeface="Arial"/>
              </a:rPr>
              <a:t> SGBD e que </a:t>
            </a:r>
            <a:r>
              <a:rPr lang="en-US" sz="2800" dirty="0" err="1">
                <a:cs typeface="Arial"/>
              </a:rPr>
              <a:t>possibilita</a:t>
            </a:r>
            <a:r>
              <a:rPr lang="en-US" sz="2800" dirty="0">
                <a:cs typeface="Arial"/>
              </a:rPr>
              <a:t> a </a:t>
            </a:r>
            <a:r>
              <a:rPr lang="en-US" sz="2800" dirty="0" err="1">
                <a:cs typeface="Arial"/>
              </a:rPr>
              <a:t>melhor</a:t>
            </a:r>
            <a:r>
              <a:rPr lang="en-US" sz="2800" dirty="0">
                <a:cs typeface="Arial"/>
              </a:rPr>
              <a:t> performance </a:t>
            </a:r>
            <a:r>
              <a:rPr lang="en-US" sz="2800" dirty="0" err="1">
                <a:cs typeface="Arial"/>
              </a:rPr>
              <a:t>possível</a:t>
            </a:r>
            <a:r>
              <a:rPr lang="en-US" sz="2800" dirty="0">
                <a:cs typeface="Arial"/>
              </a:rPr>
              <a:t> no </a:t>
            </a:r>
            <a:r>
              <a:rPr lang="en-US" sz="2800" dirty="0" err="1">
                <a:cs typeface="Arial"/>
              </a:rPr>
              <a:t>acesso</a:t>
            </a:r>
            <a:r>
              <a:rPr lang="en-US" sz="2800" dirty="0">
                <a:cs typeface="Arial"/>
              </a:rPr>
              <a:t> </a:t>
            </a:r>
            <a:r>
              <a:rPr lang="en-US" sz="2800" dirty="0" err="1">
                <a:cs typeface="Arial"/>
              </a:rPr>
              <a:t>aos</a:t>
            </a:r>
            <a:r>
              <a:rPr lang="en-US" sz="2800" dirty="0">
                <a:cs typeface="Arial"/>
              </a:rPr>
              <a:t> dados. É o lock </a:t>
            </a:r>
            <a:r>
              <a:rPr lang="en-US" sz="2800" dirty="0" err="1">
                <a:cs typeface="Arial"/>
              </a:rPr>
              <a:t>aconselhado</a:t>
            </a:r>
            <a:r>
              <a:rPr lang="en-US" sz="2800" dirty="0">
                <a:cs typeface="Arial"/>
              </a:rPr>
              <a:t> para </a:t>
            </a:r>
            <a:r>
              <a:rPr lang="en-US" sz="2800" dirty="0" err="1">
                <a:cs typeface="Arial"/>
              </a:rPr>
              <a:t>programas</a:t>
            </a:r>
            <a:r>
              <a:rPr lang="en-US" sz="2800" dirty="0">
                <a:cs typeface="Arial"/>
              </a:rPr>
              <a:t> </a:t>
            </a:r>
            <a:r>
              <a:rPr lang="en-US" sz="2800" dirty="0" err="1">
                <a:cs typeface="Arial"/>
              </a:rPr>
              <a:t>multitarefas</a:t>
            </a:r>
            <a:r>
              <a:rPr lang="en-US" sz="2800" dirty="0">
                <a:cs typeface="Arial"/>
              </a:rPr>
              <a:t> e </a:t>
            </a:r>
            <a:r>
              <a:rPr lang="en-US" sz="2800" dirty="0" err="1">
                <a:cs typeface="Arial"/>
              </a:rPr>
              <a:t>multiusuários</a:t>
            </a:r>
            <a:r>
              <a:rPr lang="en-US" sz="2800" dirty="0">
                <a:cs typeface="Arial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8870022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F35939DB-A132-4A21-B2F2-5479B7FAF7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/>
              <a:t>Tipos básicos de bloqueio (lock)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158049AE-ED73-44B4-AB64-A1E0E56C52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pt-BR" altLang="pt-BR"/>
              <a:t>Shared Lock: significa que um mesmo objeto (ex.:tabela) pode receber mais de um lock de transações diferentes simultaneamente, desde que em registros distintos.</a:t>
            </a:r>
          </a:p>
          <a:p>
            <a:pPr eaLnBrk="1" hangingPunct="1"/>
            <a:r>
              <a:rPr lang="pt-BR" altLang="pt-BR"/>
              <a:t>Exclusive Lock: significa que um dado objeto não pode ter mais de um lock implementado simultaneamente.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443CB29A-8596-452D-880F-D1A2D6A9DA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/>
              <a:t>Deadlock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9E2A1E31-8319-439E-876F-04D067F581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pt-BR" altLang="pt-BR" sz="2800"/>
              <a:t>É a ocorrência de locks bloqueando objetos de modo que transações concorrentes passam a depender dos mesmos objetos e por isso não podem ser finalizadas normalmente.</a:t>
            </a:r>
          </a:p>
          <a:p>
            <a:pPr eaLnBrk="1" hangingPunct="1"/>
            <a:r>
              <a:rPr lang="pt-BR" altLang="pt-BR" sz="2800"/>
              <a:t>Acontecem com mais facilidade quanto são estipulados locks do tipo exclusivo.</a:t>
            </a:r>
          </a:p>
          <a:p>
            <a:pPr eaLnBrk="1" hangingPunct="1"/>
            <a:r>
              <a:rPr lang="pt-BR" altLang="pt-BR" sz="2800"/>
              <a:t>Por meio de algoritmo de recuperação o SGBD irá abortar uma das transações e dar seguimento na outra.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589E0C89-E1F7-460C-85F4-D9560294D9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/>
              <a:t>Exemplo de deadlock</a:t>
            </a:r>
          </a:p>
        </p:txBody>
      </p:sp>
      <p:sp>
        <p:nvSpPr>
          <p:cNvPr id="20483" name="Rectangle 5">
            <a:extLst>
              <a:ext uri="{FF2B5EF4-FFF2-40B4-BE49-F238E27FC236}">
                <a16:creationId xmlns:a16="http://schemas.microsoft.com/office/drawing/2014/main" id="{5226D6E0-198D-4702-B8E0-62479638200A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pt-BR" altLang="pt-BR" sz="2000"/>
              <a:t>T1, T2 e T3 são transações</a:t>
            </a:r>
          </a:p>
          <a:p>
            <a:pPr eaLnBrk="1" hangingPunct="1">
              <a:lnSpc>
                <a:spcPct val="90000"/>
              </a:lnSpc>
            </a:pPr>
            <a:r>
              <a:rPr lang="pt-BR" altLang="pt-BR" sz="2000"/>
              <a:t>O1, O2, e O3 são objetos</a:t>
            </a:r>
          </a:p>
          <a:p>
            <a:pPr eaLnBrk="1" hangingPunct="1">
              <a:lnSpc>
                <a:spcPct val="90000"/>
              </a:lnSpc>
            </a:pPr>
            <a:r>
              <a:rPr lang="pt-BR" altLang="pt-BR" sz="2000"/>
              <a:t>As transações começam com T1 e T3 definindo lock exclusivo sobre os objetos O1 e O3, respectivamente.</a:t>
            </a:r>
          </a:p>
          <a:p>
            <a:pPr eaLnBrk="1" hangingPunct="1">
              <a:lnSpc>
                <a:spcPct val="90000"/>
              </a:lnSpc>
            </a:pPr>
            <a:r>
              <a:rPr lang="pt-BR" altLang="pt-BR" sz="2000"/>
              <a:t>O deadlock (DL) surge após T1 e T3 solicitarem acesso de escrita aos objetos O3 e O1, respectivamente.</a:t>
            </a:r>
          </a:p>
          <a:p>
            <a:pPr eaLnBrk="1" hangingPunct="1">
              <a:lnSpc>
                <a:spcPct val="90000"/>
              </a:lnSpc>
            </a:pPr>
            <a:r>
              <a:rPr lang="pt-BR" altLang="pt-BR" sz="2000"/>
              <a:t>Uma vez que eles já estão bloqueados, as novas solicitações ficaram pendentes e um deadlock acontecerá.</a:t>
            </a:r>
          </a:p>
        </p:txBody>
      </p:sp>
      <p:pic>
        <p:nvPicPr>
          <p:cNvPr id="20484" name="Picture 6">
            <a:extLst>
              <a:ext uri="{FF2B5EF4-FFF2-40B4-BE49-F238E27FC236}">
                <a16:creationId xmlns:a16="http://schemas.microsoft.com/office/drawing/2014/main" id="{F68D6677-0A46-4DC7-99C8-D8B1CBABBAA1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8363CAD31864443B60EC7AFB838613A" ma:contentTypeVersion="8" ma:contentTypeDescription="Create a new document." ma:contentTypeScope="" ma:versionID="45a7b940503b36f0970f107f2ba9a4d3">
  <xsd:schema xmlns:xsd="http://www.w3.org/2001/XMLSchema" xmlns:xs="http://www.w3.org/2001/XMLSchema" xmlns:p="http://schemas.microsoft.com/office/2006/metadata/properties" xmlns:ns2="19033a0b-1c73-43b9-92e2-aa1188398f94" targetNamespace="http://schemas.microsoft.com/office/2006/metadata/properties" ma:root="true" ma:fieldsID="8e6b2b64d2ee2bb03aa6151b1d682c1f" ns2:_="">
    <xsd:import namespace="19033a0b-1c73-43b9-92e2-aa1188398f9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033a0b-1c73-43b9-92e2-aa1188398f9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93EF810-9CE1-4618-9F24-7D7EDCDF947B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614E8CBB-99EE-4BE4-9555-D237FDAE31D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3797FEB-C2E1-4B1B-8CC6-946701D5E64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9033a0b-1c73-43b9-92e2-aa1188398f9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1583</TotalTime>
  <Words>857</Words>
  <Application>Microsoft Office PowerPoint</Application>
  <PresentationFormat>On-screen Show (4:3)</PresentationFormat>
  <Paragraphs>67</Paragraphs>
  <Slides>17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Design padrão</vt:lpstr>
      <vt:lpstr>Adminstração de SGBD   Aula II   </vt:lpstr>
      <vt:lpstr>Conteúdo</vt:lpstr>
      <vt:lpstr>Processamento de Transações</vt:lpstr>
      <vt:lpstr>Elementos chave no gerenciamento</vt:lpstr>
      <vt:lpstr>Gerenciamento de Transação</vt:lpstr>
      <vt:lpstr>ACID</vt:lpstr>
      <vt:lpstr>Atomicidade</vt:lpstr>
      <vt:lpstr>Durabilidade</vt:lpstr>
      <vt:lpstr>Consistência</vt:lpstr>
      <vt:lpstr>Isolamento</vt:lpstr>
      <vt:lpstr>Concorrência baseada em bloqueios</vt:lpstr>
      <vt:lpstr>Bloqueio (Lock)</vt:lpstr>
      <vt:lpstr>Transações serializadas</vt:lpstr>
      <vt:lpstr>Locks Explícitos ou não</vt:lpstr>
      <vt:lpstr>Tipos básicos de bloqueio (lock)</vt:lpstr>
      <vt:lpstr>Deadlock</vt:lpstr>
      <vt:lpstr>Exemplo de deadlock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CGARCIA</dc:creator>
  <cp:lastModifiedBy>Aluno</cp:lastModifiedBy>
  <cp:revision>149</cp:revision>
  <dcterms:created xsi:type="dcterms:W3CDTF">2007-04-18T00:41:59Z</dcterms:created>
  <dcterms:modified xsi:type="dcterms:W3CDTF">2025-06-14T00:58:39Z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0x010100D8363CAD31864443B60EC7AFB838613A</vt:lpwstr>
  </property>
  <property fmtid="{D5CDD505-2E9C-101B-9397-08002B2CF9AE}" pid="3" name="Order">
    <vt:r8>32700</vt:r8>
  </property>
  <property fmtid="{D5CDD505-2E9C-101B-9397-08002B2CF9AE}" pid="4" name="TriggerFlowInfo">
    <vt:lpwstr/>
  </property>
  <property fmtid="{D5CDD505-2E9C-101B-9397-08002B2CF9AE}" pid="5" name="_SourceUrl">
    <vt:lpwstr/>
  </property>
  <property fmtid="{D5CDD505-2E9C-101B-9397-08002B2CF9AE}" pid="6" name="_SharedFileIndex">
    <vt:lpwstr/>
  </property>
  <property fmtid="{D5CDD505-2E9C-101B-9397-08002B2CF9AE}" pid="7" name="ComplianceAssetId">
    <vt:lpwstr/>
  </property>
  <property fmtid="{D5CDD505-2E9C-101B-9397-08002B2CF9AE}" pid="8" name="_ExtendedDescription">
    <vt:lpwstr/>
  </property>
</Properties>
</file>